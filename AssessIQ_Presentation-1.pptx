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1.png"/><Relationship Id="rId4" Type="http://schemas.openxmlformats.org/officeDocument/2006/relationships/image" Target="../media/image-20-1.png"/><Relationship Id="rId5" Type="http://schemas.openxmlformats.org/officeDocument/2006/relationships/image" Target="../media/image-20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icons/c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246" y="7795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B.TECH IN CSE (DATA SCIENCE)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2402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AssessIQ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640080" y="33375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Exam Question Generator &amp; Student Performance Predictor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0080" y="416052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389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Shaw  ·  14830522047        Nikita Prasad  ·  14830522021        Subhadeep Gorain  ·  14830522050        Mrityunjoy Barman  ·  14830522035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Sofik Mandal, Assistant Professor  &amp;  Prof. Dr. Satrughna Singha, HOD — Dept. of CSE (Data Science)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Institute of Engineering and Management  |  Kolkata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82880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Objectives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03720" y="182880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User Roles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7706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69748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27706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03720" y="269748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Generation &amp; Assessment Delivery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393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Grading, Prediction &amp; Recommendations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36393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03720" y="356616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End-to-End Workflow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5079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07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443484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 &amp; Requirements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63640" y="45079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4507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03720" y="443484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Contributions &amp; Conclusion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AssessIQ — Limitations of Existing Systems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recurring pain points across today's assessment tools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39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1991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1984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Question Creation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788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hand-crafting questions, rarely aligned with Bloom's Taxonomy.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2039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1991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1984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Subjective Grading Bottleneck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99432" y="2788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inconsistent grading; instructors lose up to 40% of their time to it.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302752" y="2039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warn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219913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5712" y="1984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Intervention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02752" y="2788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 are flagged only after failing an exam.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325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lightbul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" y="448513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19072" y="4270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Learning Materials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96112" y="5074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gets the same content, regardless of their gaps.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9432" y="4325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networ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452" y="448513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2392" y="4270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Disconnected Tools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99432" y="5074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grading, and analytics live in separate, unlinked systems.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AssessIQ Delivers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objectives across the assessment lifecycle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0F3FA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391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1991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1984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Question Generation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788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Bloom's-aligned questions from uploaded content, across 8 question types.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0F3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20391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s/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1991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1984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Auto-Grading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99432" y="2788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objective grading; subjective scoring via semantic similarity.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0F3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02752" y="20391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icons/chartli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219913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5712" y="1984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Prediction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02752" y="2788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at-risk detection with explainable, SHAP-based reasoning.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0F3FA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3251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icons/lightbul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" y="448513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19072" y="4270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Recommendations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96112" y="5074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filtering + RAG-powered study notes for individual gaps.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0F3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9432" y="43251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4" descr="/home/claude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452" y="448513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2392" y="4270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99432" y="5074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distinct roles govern secure, structured platform access.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scope today, and what's deliberately deferred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9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5603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40487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Higher-ed &amp; K-12 subjects with structured text content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05840" y="33375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18211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PPTX, TXT, Markdown — up to 20 files, 50 MB each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41148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95935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user roles: Super Admin, Institution Admin, Instructor, Student, Dept Head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48920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73659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microservices — Docker, PostgreSQL 15, Redis 7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Deferred (Current Release)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29400" y="256032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240487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integration (Google OAuth, Azure AD)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333756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18211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Rubric-based essay grading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29400" y="411480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395935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 — API-first implementation for now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489204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73659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screen-capture proctoring (tab/blur logging only)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Roles, One Platform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governs every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0F3FA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39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user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1991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1984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Admin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788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control — billing, feature flags, system health.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0F3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2039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userti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1991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1984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 Admin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99432" y="2788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the institution, creates instructor &amp; student accounts.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0F3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02752" y="2039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chalk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219913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5712" y="1984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Instructor / Educator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02752" y="2788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content, generates questions, reviews grading &amp; analytics.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0F3FA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325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gradua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" y="448513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19072" y="4270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96112" y="5074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assessments, views results, accesses recommendations.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40690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0F3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9432" y="4325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usersco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452" y="448513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2392" y="4270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 Head / Coordinator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99432" y="507492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Department-wide analytics and at-risk cohort alerts.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independently deployable services, communicating via REST &amp; Redis Streams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3FA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3055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562" y="2302002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64792" y="2075688"/>
            <a:ext cx="21671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Service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29260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RBAC · MFA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3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213055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lay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882" y="2302002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2075688"/>
            <a:ext cx="21671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Service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99432" y="29260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· Parse · Chunk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8745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3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02752" y="213055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202" y="2302002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71432" y="2075688"/>
            <a:ext cx="21671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Service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292608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· Deliver · Grade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749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3FA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00507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chart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562" y="4176522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64792" y="3950208"/>
            <a:ext cx="21671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Service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6112" y="480060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Scoring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749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3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9432" y="400507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lightbul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882" y="4176522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68112" y="3950208"/>
            <a:ext cx="21671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Service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99432" y="480060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· RAG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749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0F3FA"/>
          </a:solidFill>
          <a:ln/>
        </p:spPr>
      </p:sp>
      <p:sp>
        <p:nvSpPr>
          <p:cNvPr id="30" name="Shape 23"/>
          <p:cNvSpPr/>
          <p:nvPr/>
        </p:nvSpPr>
        <p:spPr>
          <a:xfrm>
            <a:off x="8302752" y="400507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icons/commen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202" y="4176522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71432" y="3950208"/>
            <a:ext cx="21671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Service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2752" y="480060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Support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foundation: PostgreSQL 15 (+pgvector)   ·   Redis 7   ·   Docker &amp; Docker Compose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Services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and Content services underpin every other module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2174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Service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60120" y="301752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2862072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with RS256 signing — 15-min access / 7-day refresh tokens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" y="367588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52044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hashing, minimum cost factor 12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60120" y="433425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417880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via TOTP; account lockout after 5 failed attempts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60120" y="499262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83717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middleware enforced across all five roles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178308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9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0" y="20574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1" descr="/home/claude/icons/lay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221742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0664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Service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583680" y="301752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7"/>
          <p:cNvSpPr/>
          <p:nvPr/>
        </p:nvSpPr>
        <p:spPr>
          <a:xfrm>
            <a:off x="6812280" y="2862072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PyMuPDF, python-docx, python-pptx parsers by file type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83680" y="367588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352044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chunking — 512 tokens, 64-token overlap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583680" y="433425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417880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via PostgreSQL tsvector + GIN index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83680" y="499262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3"/>
          <p:cNvSpPr/>
          <p:nvPr/>
        </p:nvSpPr>
        <p:spPr>
          <a:xfrm>
            <a:off x="6812280" y="483717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object storage; soft-delete with 30-day purge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Two-Stage Question Generation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content to Bloom's-aligned questions, with an offline fallback for reliability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0F3FA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938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58468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uplo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331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Upload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5528" y="34747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PPTX parsed &amp; chunked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990088" y="2583180"/>
            <a:ext cx="51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508248" y="182880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0F3FA"/>
          </a:solidFill>
          <a:ln/>
        </p:spPr>
      </p:sp>
      <p:sp>
        <p:nvSpPr>
          <p:cNvPr id="12" name="Text 9"/>
          <p:cNvSpPr/>
          <p:nvPr/>
        </p:nvSpPr>
        <p:spPr>
          <a:xfrm>
            <a:off x="3645408" y="1938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08348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icons/t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228" y="23317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45408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NLTK Keyword Extraction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645408" y="34747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concept &amp; keyword mining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839968" y="2583180"/>
            <a:ext cx="51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6358128" y="182880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0F3FA"/>
          </a:solidFill>
          <a:ln/>
        </p:spPr>
      </p:sp>
      <p:sp>
        <p:nvSpPr>
          <p:cNvPr id="19" name="Text 15"/>
          <p:cNvSpPr/>
          <p:nvPr/>
        </p:nvSpPr>
        <p:spPr>
          <a:xfrm>
            <a:off x="6495288" y="1938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7158228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icons/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08" y="23317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95288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Drafting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95288" y="34747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OpenRouter generates questions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689848" y="2583180"/>
            <a:ext cx="51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0"/>
          <p:cNvSpPr/>
          <p:nvPr/>
        </p:nvSpPr>
        <p:spPr>
          <a:xfrm>
            <a:off x="9208008" y="182880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0F3FA"/>
          </a:solidFill>
          <a:ln/>
        </p:spPr>
      </p:sp>
      <p:sp>
        <p:nvSpPr>
          <p:cNvPr id="26" name="Text 21"/>
          <p:cNvSpPr/>
          <p:nvPr/>
        </p:nvSpPr>
        <p:spPr>
          <a:xfrm>
            <a:off x="9345168" y="1938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10008108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/home/claude/icons/bulls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0988" y="233172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45168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Bloom's Tagging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9345168" y="34747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Level, difficulty &amp; source chunk attached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40080" y="4160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offline fallback generates MCQ &amp; Fill-in-the-Blank questions when the LLM is unavailable — the pipeline never fully stalls.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640080" y="4800600"/>
            <a:ext cx="108813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40080" y="4937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Bloom's Taxonomy Levels Covered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640080" y="5349240"/>
            <a:ext cx="169164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35" name="Text 29"/>
          <p:cNvSpPr/>
          <p:nvPr/>
        </p:nvSpPr>
        <p:spPr>
          <a:xfrm>
            <a:off x="640080" y="5349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2423160" y="5349240"/>
            <a:ext cx="169164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37" name="Text 31"/>
          <p:cNvSpPr/>
          <p:nvPr/>
        </p:nvSpPr>
        <p:spPr>
          <a:xfrm>
            <a:off x="2423160" y="5349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4206240" y="5349240"/>
            <a:ext cx="169164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39" name="Text 33"/>
          <p:cNvSpPr/>
          <p:nvPr/>
        </p:nvSpPr>
        <p:spPr>
          <a:xfrm>
            <a:off x="4206240" y="5349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5989320" y="5349240"/>
            <a:ext cx="169164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41" name="Text 35"/>
          <p:cNvSpPr/>
          <p:nvPr/>
        </p:nvSpPr>
        <p:spPr>
          <a:xfrm>
            <a:off x="5989320" y="5349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7772400" y="5349240"/>
            <a:ext cx="169164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43" name="Text 37"/>
          <p:cNvSpPr/>
          <p:nvPr/>
        </p:nvSpPr>
        <p:spPr>
          <a:xfrm>
            <a:off x="7772400" y="5349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9555480" y="5349240"/>
            <a:ext cx="169164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45" name="Text 39"/>
          <p:cNvSpPr/>
          <p:nvPr/>
        </p:nvSpPr>
        <p:spPr>
          <a:xfrm>
            <a:off x="9555480" y="5349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47" name="Text 4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Question Types, One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item carries a type, Bloom's level, difficulty score, and source reference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920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20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MCQ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01568" y="1920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38728" y="1920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MSQ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44768" y="1920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81928" y="1920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887968" y="1920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25128" y="1920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in the Blank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3520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" y="35204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Answer (SAQ)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01568" y="3520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38728" y="35204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Answer / Essay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44768" y="3520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81928" y="35204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/ Scenario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87968" y="3520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5C9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25128" y="35204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attached to every question: Bloom's level  ·  Difficulty (1–5)  ·  Source chunk reference  ·  Duplicate check (cosine similarity ≥ 0.92)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Delivery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 full, time-sensitive lifecycle of a live assessment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0F3FA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39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hourgl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1991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1984248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Timers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788920"/>
            <a:ext cx="4745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enforced via Redis, immune to client-side tampering.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0F3FA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2039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sav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1991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1984248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30-Second Auto-Save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19672" y="2788920"/>
            <a:ext cx="4745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Write-through caching keeps responses safe against disconnects.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0F3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1879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434797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19072" y="4133088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Proctoring Events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96112" y="4937760"/>
            <a:ext cx="4745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Tab-switch, window-blur &amp; copy/paste events logged in real time.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0F3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519672" y="41879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warn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692" y="434797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2632" y="4133088"/>
            <a:ext cx="3950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Submission Handling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19672" y="4937760"/>
            <a:ext cx="4745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penalty applied automatically past the deadline.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Multi-Factor Grading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answers graded instantly; subjective answers scored with confidence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s/clipboard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2174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Grading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· MSQ · True/False · Matching · Fill-in-the-Blank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333756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instantly on submission — a deterministic, rule-based comparison against the correct answer key.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0574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icons/percenta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22174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Subjective Grading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83680" y="2880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 (SAQ) &amp; Essay responses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583680" y="34290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2"/>
          <p:cNvSpPr/>
          <p:nvPr/>
        </p:nvSpPr>
        <p:spPr>
          <a:xfrm>
            <a:off x="6812280" y="32918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against the model answer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583680" y="38862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4"/>
          <p:cNvSpPr/>
          <p:nvPr/>
        </p:nvSpPr>
        <p:spPr>
          <a:xfrm>
            <a:off x="6812280" y="37490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coverage from source content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583680" y="43434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6"/>
          <p:cNvSpPr/>
          <p:nvPr/>
        </p:nvSpPr>
        <p:spPr>
          <a:xfrm>
            <a:off x="6812280" y="42062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compliance check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583680" y="48006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18"/>
          <p:cNvSpPr/>
          <p:nvPr/>
        </p:nvSpPr>
        <p:spPr>
          <a:xfrm>
            <a:off x="6812280" y="46634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confidence scoring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 Prediction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4 models, auto-selected by F1-score, explained with SHAP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0F3F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Models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37744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77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288036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8803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338328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3832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88620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8862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Classifier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4434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quiz scores · grade trend · submission punctuality · login frequency · content access patterns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5166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selected via 5-fold cross-validation on F1-score.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6916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Risk Tiers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92240" y="242316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42316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2953512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9535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3483864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F9A03F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48386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4014216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01421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7091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explained in plain language using SHAP values — surfacing the top contributing factors behind every risk score.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knowledge gaps with a hybrid engine and RAG-powered study notes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391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s/puzz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1991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1984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Detection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788920"/>
            <a:ext cx="300837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Topic-level proficiency below 60% flags a knowledge gap per student.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20391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s/lay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1991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1984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Filtering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99432" y="2788920"/>
            <a:ext cx="300837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(pgvector similarity) + collaborative filtering surface relevant material.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302752" y="20391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icons/boo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219913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5712" y="19842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Study Notes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02752" y="2788920"/>
            <a:ext cx="300837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topic summaries synthesized from institution content via pgvector retrieval.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core entities anchor the platform's PostgreSQL schema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0F3F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345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user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717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17830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0F3FA"/>
          </a:solidFill>
          <a:ln/>
        </p:spPr>
      </p:sp>
      <p:sp>
        <p:nvSpPr>
          <p:cNvPr id="9" name="Shape 6"/>
          <p:cNvSpPr/>
          <p:nvPr/>
        </p:nvSpPr>
        <p:spPr>
          <a:xfrm>
            <a:off x="4544568" y="20345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icons/boo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1717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78308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46720" y="17830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0F3FA"/>
          </a:solidFill>
          <a:ln/>
        </p:spPr>
      </p:sp>
      <p:sp>
        <p:nvSpPr>
          <p:cNvPr id="13" name="Shape 9"/>
          <p:cNvSpPr/>
          <p:nvPr/>
        </p:nvSpPr>
        <p:spPr>
          <a:xfrm>
            <a:off x="8247888" y="20345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icons/filea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21717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61120" y="178308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content_documents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2999232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0F3FA"/>
          </a:solidFill>
          <a:ln/>
        </p:spPr>
      </p:sp>
      <p:sp>
        <p:nvSpPr>
          <p:cNvPr id="17" name="Shape 12"/>
          <p:cNvSpPr/>
          <p:nvPr/>
        </p:nvSpPr>
        <p:spPr>
          <a:xfrm>
            <a:off x="841248" y="32506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icons/lay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38785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2999232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content_chunks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43400" y="2999232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0F3FA"/>
          </a:solidFill>
          <a:ln/>
        </p:spPr>
      </p:sp>
      <p:sp>
        <p:nvSpPr>
          <p:cNvPr id="21" name="Shape 15"/>
          <p:cNvSpPr/>
          <p:nvPr/>
        </p:nvSpPr>
        <p:spPr>
          <a:xfrm>
            <a:off x="4544568" y="32506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icons/robo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338785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57800" y="2999232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046720" y="2999232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0F3FA"/>
          </a:solidFill>
          <a:ln/>
        </p:spPr>
      </p:sp>
      <p:sp>
        <p:nvSpPr>
          <p:cNvPr id="25" name="Shape 18"/>
          <p:cNvSpPr/>
          <p:nvPr/>
        </p:nvSpPr>
        <p:spPr>
          <a:xfrm>
            <a:off x="8247888" y="32506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/home/claude/icons/clipboard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387852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961120" y="2999232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40080" y="4215384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0F3FA"/>
          </a:solidFill>
          <a:ln/>
        </p:spPr>
      </p:sp>
      <p:sp>
        <p:nvSpPr>
          <p:cNvPr id="29" name="Shape 21"/>
          <p:cNvSpPr/>
          <p:nvPr/>
        </p:nvSpPr>
        <p:spPr>
          <a:xfrm>
            <a:off x="841248" y="44668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6" descr="/home/claude/icons/sav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" y="4604004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54480" y="4215384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submissions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4343400" y="4215384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0F3FA"/>
          </a:solidFill>
          <a:ln/>
        </p:spPr>
      </p:sp>
      <p:sp>
        <p:nvSpPr>
          <p:cNvPr id="33" name="Shape 24"/>
          <p:cNvSpPr/>
          <p:nvPr/>
        </p:nvSpPr>
        <p:spPr>
          <a:xfrm>
            <a:off x="4544568" y="44668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7" descr="/home/claude/icons/chartlin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1728" y="4604004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57800" y="4215384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8046720" y="4215384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0F3FA"/>
          </a:solidFill>
          <a:ln/>
        </p:spPr>
      </p:sp>
      <p:sp>
        <p:nvSpPr>
          <p:cNvPr id="37" name="Shape 27"/>
          <p:cNvSpPr/>
          <p:nvPr/>
        </p:nvSpPr>
        <p:spPr>
          <a:xfrm>
            <a:off x="8247888" y="44668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8" descr="/home/claude/icons/lightbulb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048" y="4604004"/>
            <a:ext cx="274320" cy="27432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961120" y="4215384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carries created_at / soft-delete metadata; questions, documents &amp; assessments are versioned.</a:t>
            </a:r>
            <a:endParaRPr lang="en-US" sz="1200" dirty="0"/>
          </a:p>
        </p:txBody>
      </p:sp>
      <p:sp>
        <p:nvSpPr>
          <p:cNvPr id="41" name="Text 3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42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content upload to student insight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17320" y="2148840"/>
            <a:ext cx="0" cy="3730752"/>
          </a:xfrm>
          <a:prstGeom prst="line">
            <a:avLst/>
          </a:prstGeom>
          <a:noFill/>
          <a:ln w="38100">
            <a:solidFill>
              <a:srgbClr val="263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993392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4520" y="19202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Upload &amp; Preprocessing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280160" y="2615184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6151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74520" y="254203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Generation (Bloom's-aligned)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280160" y="3236976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2369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74520" y="3163824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Assembly &amp; Publishing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280160" y="3858768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74520" y="3785616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Taking (timed, auto-saved)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280160" y="4480560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480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74520" y="440740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Auto-Grading (objective + subjective)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280160" y="5102352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5102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74520" y="50292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Recommendation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1280160" y="5724144"/>
            <a:ext cx="274320" cy="274320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5724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74520" y="565099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(email alerts)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Development — 10 Phases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24–30 weeks, continuous feedback and incremental delivery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3566160"/>
            <a:ext cx="1051560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3401568"/>
            <a:ext cx="329184" cy="32918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788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-182880" y="3886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Infra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61488" y="3401568"/>
            <a:ext cx="329184" cy="32918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788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3886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4608" y="3401568"/>
            <a:ext cx="329184" cy="32918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788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3886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67728" y="3401568"/>
            <a:ext cx="329184" cy="329184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788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3886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Generation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0848" y="3401568"/>
            <a:ext cx="329184" cy="329184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788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3886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Delivery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173968" y="3401568"/>
            <a:ext cx="329184" cy="32918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0" y="2788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5–10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32720" y="3886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· Prediction · Recs · Hardening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High-risk phase (LLM integration complexity / stateful, time-sensitive delivery)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follows the same rhythm: plan → implement → test → review.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scale, and security targets set at design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0F3FA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7627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tachome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591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2121408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017520"/>
            <a:ext cx="30083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≤300ms (read) / ≤800ms (write) p95. Question generation ≤15s (LLM) or ≤3s (rule-based). Dashboard load ≤2s.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9202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0F3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217627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expa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3591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2121408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3017520"/>
            <a:ext cx="30083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of stateless services; up to 5,000 concurrent test-takers; 10x peak-load auto-scaling.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0F3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02752" y="217627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35915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17152" y="2121408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02752" y="3017520"/>
            <a:ext cx="30083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cost-12 hashing, JWT RS256 tokens, rate limiting — 100 req/min standard, 10 req/min on LLM endpoints.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Study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operational, and economic viability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76272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591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2121408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017520"/>
            <a:ext cx="30083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stack — FastAPI async, pgvector similarity search, circuit breaker + semantic caching around the LLM.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9202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2176272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s/handshak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3591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2121408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3017520"/>
            <a:ext cx="30083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containerization, GitHub Actions CI, structured JSON logging — easy to run with basic digital literacy.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302752" y="2176272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icons/coin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35915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17152" y="2121408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02752" y="3017520"/>
            <a:ext cx="30083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core stack; OpenRouter with semantic caching cuts inference cost; tiered SaaS subscription model.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Contributions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AssessIQ adds beyond a standard assessment tool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icons/sta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237" y="198767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question generation — keyword extraction paired with LLM drafting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/home/claude/icons/sta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37" y="2764917"/>
            <a:ext cx="276606" cy="276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651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grading engine with confidence scoring for subjective responses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2" descr="/home/claude/icons/sta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3542157"/>
            <a:ext cx="276606" cy="2766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429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ML pipeline with SHAP explainability for performance prediction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3" descr="/home/claude/icons/sta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37" y="4319397"/>
            <a:ext cx="276606" cy="276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206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recommendation system with RAG augmentation for study materials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4" descr="/home/claude/icons/star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37" y="5096637"/>
            <a:ext cx="276606" cy="27660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4983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architecture with a circuit-breaker pattern for LLM reliability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AssessIQ Stands Apart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each solve one piece — AssessIQ unifies the full assessment lifecycle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8288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Tools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38160" y="18288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AssessIQ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2606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QuizBot / ExamGen — no Bloom's alignment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0" y="26060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Bloom's-aligned, 8 question types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881360" cy="777240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33832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Gradescope / Crowdmark — grading only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0" y="33832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generation &amp; prediction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41605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/ Canvas — basic analytics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4160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at-risk detection with SHAP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881360" cy="777240"/>
          </a:xfrm>
          <a:prstGeom prst="rect">
            <a:avLst/>
          </a:prstGeom>
          <a:solidFill>
            <a:srgbClr val="F0F3F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937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49377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offered by most platforms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38160" y="4937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filtering + RAG study notes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answer to four assessment challenges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 integrates AI-powered question generation, intelligent grading, performance prediction, and personalized recommendations into a single, extensible platform — built on async microservices, tested, containerized, and ready to 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4290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310896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34290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383280" y="4526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310896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34290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126480" y="4526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0" y="310896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0" y="34290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869680" y="4526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Levels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extensions beyond the current implementation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263080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4231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562" y="25946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Question Generation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19659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263080"/>
          </a:solidFill>
          <a:ln/>
        </p:spPr>
      </p:sp>
      <p:sp>
        <p:nvSpPr>
          <p:cNvPr id="9" name="Shape 6"/>
          <p:cNvSpPr/>
          <p:nvPr/>
        </p:nvSpPr>
        <p:spPr>
          <a:xfrm>
            <a:off x="4599432" y="24231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882" y="25946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965960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Prediction Models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46720" y="19659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263080"/>
          </a:solidFill>
          <a:ln/>
        </p:spPr>
      </p:sp>
      <p:sp>
        <p:nvSpPr>
          <p:cNvPr id="13" name="Shape 9"/>
          <p:cNvSpPr/>
          <p:nvPr/>
        </p:nvSpPr>
        <p:spPr>
          <a:xfrm>
            <a:off x="8302752" y="24231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2" descr="/home/claude/icons/filepdf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202" y="2594610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0" y="1965960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 Report Generation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8404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263080"/>
          </a:solidFill>
          <a:ln/>
        </p:spPr>
      </p:sp>
      <p:sp>
        <p:nvSpPr>
          <p:cNvPr id="17" name="Shape 12"/>
          <p:cNvSpPr/>
          <p:nvPr/>
        </p:nvSpPr>
        <p:spPr>
          <a:xfrm>
            <a:off x="896112" y="42976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3" descr="/home/claude/icons/sm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562" y="4469130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37360" y="3840480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&amp; WhatsApp Alerts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43400" y="38404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263080"/>
          </a:solidFill>
          <a:ln/>
        </p:spPr>
      </p:sp>
      <p:sp>
        <p:nvSpPr>
          <p:cNvPr id="21" name="Shape 15"/>
          <p:cNvSpPr/>
          <p:nvPr/>
        </p:nvSpPr>
        <p:spPr>
          <a:xfrm>
            <a:off x="4599432" y="42976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4" descr="/home/claude/icons/lin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882" y="4469130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40680" y="3840480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LTI 1.3 Integration with LMS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046720" y="38404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263080"/>
          </a:solidFill>
          <a:ln/>
        </p:spPr>
      </p:sp>
      <p:sp>
        <p:nvSpPr>
          <p:cNvPr id="25" name="Shape 18"/>
          <p:cNvSpPr/>
          <p:nvPr/>
        </p:nvSpPr>
        <p:spPr>
          <a:xfrm>
            <a:off x="8302752" y="42976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5" descr="/home/claude/icons/mobi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202" y="4469130"/>
            <a:ext cx="342900" cy="3429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44000" y="3840480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AssessIQ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2926080" cy="292608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Shaw   ·   Nikita Prasad   ·   Subhadeep Gorain   ·   Mrityunjoy Barman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·  Future Institute of Engineering and Management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2026-07-19T12:06:23Z</dcterms:created>
  <dcterms:modified xsi:type="dcterms:W3CDTF">2026-07-19T12:06:23Z</dcterms:modified>
</cp:coreProperties>
</file>